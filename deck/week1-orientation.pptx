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B38F4B"/>
                </a:solidFill>
              </a:rPr>
              <a:t>INFO 492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B2A4A"/>
                </a:solidFill>
              </a:rPr>
              <a:t>CONSTRUCTION INFORMATICS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444444"/>
                </a:solidFill>
              </a:rPr>
              <a:t>Week 1 /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38F4B"/>
                </a:solidFill>
              </a:rPr>
              <a:t>AI LAB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2A4A"/>
                </a:solidFill>
              </a:rPr>
              <a:t>Week 1 class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19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444444"/>
                </a:solidFill>
              </a:rPr>
              <a:t>Meet instructional team, students</a:t>
            </a:r>
          </a:p>
          <a:p>
            <a:pPr/>
            <a:r>
              <a:rPr sz="2000">
                <a:solidFill>
                  <a:srgbClr val="444444"/>
                </a:solidFill>
              </a:rPr>
              <a:t>Provide high-level orientation about the class</a:t>
            </a:r>
          </a:p>
          <a:p>
            <a:pPr/>
            <a:r>
              <a:rPr sz="2000">
                <a:solidFill>
                  <a:srgbClr val="444444"/>
                </a:solidFill>
              </a:rPr>
              <a:t>Assign teams (8 teams of 4; GC ↔ subcontractor pairs for the RFI Lab)</a:t>
            </a:r>
          </a:p>
          <a:p>
            <a:pPr/>
            <a:r>
              <a:rPr sz="2000">
                <a:solidFill>
                  <a:srgbClr val="444444"/>
                </a:solidFill>
              </a:rPr>
              <a:t>First assignment lecture</a:t>
            </a:r>
          </a:p>
          <a:p>
            <a:pPr/>
            <a:r>
              <a:rPr sz="2000">
                <a:solidFill>
                  <a:srgbClr val="444444"/>
                </a:solidFill>
              </a:rPr>
              <a:t>Lab: RFI Lab</a:t>
            </a:r>
          </a:p>
          <a:p>
            <a:pPr/>
            <a:r>
              <a:rPr sz="2000">
                <a:solidFill>
                  <a:srgbClr val="444444"/>
                </a:solidFill>
              </a:rPr>
              <a:t>Teams check-in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38F4B"/>
                </a:solidFill>
              </a:rPr>
              <a:t>AI LAB SERIES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2A4A"/>
                </a:solidFill>
              </a:rPr>
              <a:t>Week 1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19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444444"/>
                </a:solidFill>
              </a:rPr>
              <a:t>1:30 - 2:30   Instructional team, student introductions</a:t>
            </a:r>
          </a:p>
          <a:p>
            <a:pPr/>
            <a:r>
              <a:rPr sz="2000">
                <a:solidFill>
                  <a:srgbClr val="444444"/>
                </a:solidFill>
              </a:rPr>
              <a:t>2:30 - 3:00   Intensive Capstone Overview</a:t>
            </a:r>
          </a:p>
          <a:p>
            <a:pPr/>
            <a:r>
              <a:rPr sz="2000">
                <a:solidFill>
                  <a:srgbClr val="444444"/>
                </a:solidFill>
              </a:rPr>
              <a:t>3:00 - 3:30   Lecture: how information flows through construction</a:t>
            </a:r>
          </a:p>
          <a:p>
            <a:pPr/>
            <a:r>
              <a:rPr sz="2000">
                <a:solidFill>
                  <a:srgbClr val="444444"/>
                </a:solidFill>
              </a:rPr>
              <a:t>3:30 - 5:00   RFI Lab, check-in with teams</a:t>
            </a:r>
          </a:p>
          <a:p>
            <a:pPr/>
            <a:r>
              <a:rPr sz="2000">
                <a:solidFill>
                  <a:srgbClr val="444444"/>
                </a:solidFill>
              </a:rPr>
              <a:t>5:00 - 5:20   RFI Lab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38F4B"/>
                </a:solidFill>
              </a:rPr>
              <a:t>AI LAB SERIES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2A4A"/>
                </a:solidFill>
              </a:rPr>
              <a:t>Quarter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19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444444"/>
                </a:solidFill>
              </a:rPr>
              <a:t>Autumn Quarter / 10 weeks</a:t>
            </a:r>
          </a:p>
          <a:p>
            <a:pPr/>
            <a:r>
              <a:rPr sz="2000">
                <a:solidFill>
                  <a:srgbClr val="444444"/>
                </a:solidFill>
              </a:rPr>
              <a:t>2 Weeks — Thesis, research, pre-development; RFI Lab + project lens selection</a:t>
            </a:r>
          </a:p>
          <a:p>
            <a:pPr/>
            <a:r>
              <a:rPr sz="2000">
                <a:solidFill>
                  <a:srgbClr val="444444"/>
                </a:solidFill>
              </a:rPr>
              <a:t>7 Weeks — Coordination demo iterations, site visits, feedback, mid-quarter analysis</a:t>
            </a:r>
          </a:p>
          <a:p>
            <a:pPr/>
            <a:r>
              <a:rPr sz="2000">
                <a:solidFill>
                  <a:srgbClr val="444444"/>
                </a:solidFill>
              </a:rPr>
              <a:t>1 Wk — Final Analysis</a:t>
            </a:r>
          </a:p>
          <a:p>
            <a:pPr/>
            <a:r>
              <a:rPr sz="2000">
                <a:solidFill>
                  <a:srgbClr val="444444"/>
                </a:solidFill>
              </a:rPr>
              <a:t/>
            </a:r>
          </a:p>
          <a:p>
            <a:pPr/>
            <a:r>
              <a:rPr sz="2000">
                <a:solidFill>
                  <a:srgbClr val="444444"/>
                </a:solidFill>
              </a:rPr>
              <a:t>Teams check-ins / deep-dives</a:t>
            </a:r>
          </a:p>
          <a:p>
            <a:pPr/>
            <a:r>
              <a:rPr sz="2000">
                <a:solidFill>
                  <a:srgbClr val="444444"/>
                </a:solidFill>
              </a:rPr>
              <a:t>Labs: research, development, testing…</a:t>
            </a:r>
          </a:p>
          <a:p>
            <a:pPr/>
            <a:r>
              <a:rPr sz="2000">
                <a:solidFill>
                  <a:srgbClr val="444444"/>
                </a:solidFill>
              </a:rPr>
              <a:t>Final Presentation / Final Grades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38F4B"/>
                </a:solidFill>
              </a:rPr>
              <a:t>AI LAB SERIES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B2A4A"/>
                </a:solidFill>
              </a:rPr>
              <a:t>Your instruction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19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444444"/>
                </a:solidFill>
              </a:rPr>
              <a:t>Frank Martinez - Instructor</a:t>
            </a:r>
          </a:p>
          <a:p>
            <a:pPr/>
            <a:r>
              <a:rPr sz="2000">
                <a:solidFill>
                  <a:srgbClr val="444444"/>
                </a:solidFill>
              </a:rPr>
              <a:t>[TA name] - 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38F4B"/>
                </a:solidFill>
              </a:rPr>
              <a:t>AI LAB SERIES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2A4A"/>
                </a:solidFill>
              </a:rPr>
              <a:t>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19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444444"/>
                </a:solidFill>
              </a:rPr>
              <a:t>Instructor</a:t>
            </a:r>
          </a:p>
          <a:p>
            <a:pPr/>
            <a:r>
              <a:rPr sz="2000">
                <a:solidFill>
                  <a:srgbClr val="444444"/>
                </a:solidFill>
              </a:rPr>
              <a:t>Instruction, guidance, lectures</a:t>
            </a:r>
          </a:p>
          <a:p>
            <a:pPr/>
            <a:r>
              <a:rPr sz="2000">
                <a:solidFill>
                  <a:srgbClr val="444444"/>
                </a:solidFill>
              </a:rPr>
              <a:t>Weekly check-ins with each team</a:t>
            </a:r>
          </a:p>
          <a:p>
            <a:pPr/>
            <a:r>
              <a:rPr sz="2000">
                <a:solidFill>
                  <a:srgbClr val="444444"/>
                </a:solidFill>
              </a:rPr>
              <a:t>Mentoring with student teams, deep dives, problem solving</a:t>
            </a:r>
          </a:p>
          <a:p>
            <a:pPr/>
            <a:r>
              <a:rPr sz="2000">
                <a:solidFill>
                  <a:srgbClr val="444444"/>
                </a:solidFill>
              </a:rPr>
              <a:t>Assignment review and grading</a:t>
            </a:r>
          </a:p>
          <a:p>
            <a:pPr/>
            <a:r>
              <a:rPr sz="2000">
                <a:solidFill>
                  <a:srgbClr val="444444"/>
                </a:solidFill>
              </a:rPr>
              <a:t>Connect to external resources (industry partners, site visits)</a:t>
            </a:r>
          </a:p>
          <a:p>
            <a:pPr/>
            <a:r>
              <a:rPr sz="2000">
                <a:solidFill>
                  <a:srgbClr val="444444"/>
                </a:solidFill>
              </a:rPr>
              <a:t>TA</a:t>
            </a:r>
          </a:p>
          <a:p>
            <a:pPr/>
            <a:r>
              <a:rPr sz="2000">
                <a:solidFill>
                  <a:srgbClr val="444444"/>
                </a:solidFill>
              </a:rPr>
              <a:t>Labs assistance, coordination</a:t>
            </a:r>
          </a:p>
          <a:p>
            <a:pPr/>
            <a:r>
              <a:rPr sz="2000">
                <a:solidFill>
                  <a:srgbClr val="444444"/>
                </a:solidFill>
              </a:rPr>
              <a:t>Assignments review</a:t>
            </a:r>
          </a:p>
          <a:p>
            <a:pPr/>
            <a:r>
              <a:rPr sz="2000">
                <a:solidFill>
                  <a:srgbClr val="444444"/>
                </a:solidFill>
              </a:rPr>
              <a:t>First point of contact for questions</a:t>
            </a:r>
          </a:p>
          <a:p>
            <a:pPr/>
            <a:r>
              <a:rPr sz="2000">
                <a:solidFill>
                  <a:srgbClr val="444444"/>
                </a:solidFill>
              </a:rPr>
              <a:t>Office hours by appointment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38F4B"/>
                </a:solidFill>
              </a:rPr>
              <a:t>AI LAB SERIES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2A4A"/>
                </a:solidFill>
              </a:rPr>
              <a:t>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19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444444"/>
                </a:solidFill>
              </a:rPr>
              <a:t>Email — Questions about class, assignments… — checked evenings; reply within 1 biz day</a:t>
            </a:r>
          </a:p>
          <a:p>
            <a:pPr/>
            <a:r>
              <a:rPr sz="2000">
                <a:solidFill>
                  <a:srgbClr val="444444"/>
                </a:solidFill>
              </a:rPr>
              <a:t>Canvas Assignments — Feedback on assignments — following submission</a:t>
            </a:r>
          </a:p>
          <a:p>
            <a:pPr/>
            <a:r>
              <a:rPr sz="2000">
                <a:solidFill>
                  <a:srgbClr val="444444"/>
                </a:solidFill>
              </a:rPr>
              <a:t>Canvas Announcements — News/updates to all class — weekly Monday 8AM; ad hoc</a:t>
            </a:r>
          </a:p>
          <a:p>
            <a:pPr/>
            <a:r>
              <a:rPr sz="2000">
                <a:solidFill>
                  <a:srgbClr val="444444"/>
                </a:solidFill>
              </a:rPr>
              <a:t>In-Class — TA check-ins, instructor 1:1 — Fridays 1:30 - 5:20</a:t>
            </a:r>
          </a:p>
          <a:p>
            <a:pPr/>
            <a:r>
              <a:rPr sz="2000">
                <a:solidFill>
                  <a:srgbClr val="444444"/>
                </a:solidFill>
              </a:rPr>
              <a:t>Office Hours — Student, personal issues — by appointment</a:t>
            </a:r>
          </a:p>
          <a:p>
            <a:pPr/>
            <a:r>
              <a:rPr sz="2000">
                <a:solidFill>
                  <a:srgbClr val="444444"/>
                </a:solidFill>
              </a:rPr>
              <a:t/>
            </a:r>
          </a:p>
          <a:p>
            <a:pPr/>
            <a:r>
              <a:rPr sz="2000">
                <a:solidFill>
                  <a:srgbClr val="444444"/>
                </a:solidFill>
              </a:rPr>
              <a:t>DO NOT USE: Slack, MS Teams, social media (LinkedIn, FB etc), text message — never, unless otherwise discussed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38F4B"/>
                </a:solidFill>
              </a:rPr>
              <a:t>AI LAB SERIES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2A4A"/>
                </a:solidFill>
              </a:rPr>
              <a:t>Assignments &amp; Grading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19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444444"/>
                </a:solidFill>
              </a:rPr>
              <a:t>Details                                   Points</a:t>
            </a:r>
          </a:p>
          <a:p>
            <a:pPr/>
            <a:r>
              <a:rPr sz="2000">
                <a:solidFill>
                  <a:srgbClr val="444444"/>
                </a:solidFill>
              </a:rPr>
              <a:t>Pre-Class Questionnaire —                  5</a:t>
            </a:r>
          </a:p>
          <a:p>
            <a:pPr/>
            <a:r>
              <a:rPr sz="2000">
                <a:solidFill>
                  <a:srgbClr val="444444"/>
                </a:solidFill>
              </a:rPr>
              <a:t>RFI Lab Deliverables —                    15</a:t>
            </a:r>
          </a:p>
          <a:p>
            <a:pPr/>
            <a:r>
              <a:rPr sz="2000">
                <a:solidFill>
                  <a:srgbClr val="444444"/>
                </a:solidFill>
              </a:rPr>
              <a:t>Thesis + Coordination Posture Design —    10</a:t>
            </a:r>
          </a:p>
          <a:p>
            <a:pPr/>
            <a:r>
              <a:rPr sz="2000">
                <a:solidFill>
                  <a:srgbClr val="444444"/>
                </a:solidFill>
              </a:rPr>
              <a:t>Coordination Demo #1 —                    15</a:t>
            </a:r>
          </a:p>
          <a:p>
            <a:pPr/>
            <a:r>
              <a:rPr sz="2000">
                <a:solidFill>
                  <a:srgbClr val="444444"/>
                </a:solidFill>
              </a:rPr>
              <a:t>Coordination Demo #2 —                    15</a:t>
            </a:r>
          </a:p>
          <a:p>
            <a:pPr/>
            <a:r>
              <a:rPr sz="2000">
                <a:solidFill>
                  <a:srgbClr val="444444"/>
                </a:solidFill>
              </a:rPr>
              <a:t>Mid-quarter Analysis —                    25</a:t>
            </a:r>
          </a:p>
          <a:p>
            <a:pPr/>
            <a:r>
              <a:rPr sz="2000">
                <a:solidFill>
                  <a:srgbClr val="444444"/>
                </a:solidFill>
              </a:rPr>
              <a:t>Coordination Demo #3 —                    15</a:t>
            </a:r>
          </a:p>
          <a:p>
            <a:pPr/>
            <a:r>
              <a:rPr sz="2000">
                <a:solidFill>
                  <a:srgbClr val="444444"/>
                </a:solidFill>
              </a:rPr>
              <a:t>Coordination Demo #4 —                    15</a:t>
            </a:r>
          </a:p>
          <a:p>
            <a:pPr/>
            <a:r>
              <a:rPr sz="2000">
                <a:solidFill>
                  <a:srgbClr val="444444"/>
                </a:solidFill>
              </a:rPr>
              <a:t>Final Analysis —                          40</a:t>
            </a:r>
          </a:p>
          <a:p>
            <a:pPr/>
            <a:r>
              <a:rPr sz="2000">
                <a:solidFill>
                  <a:srgbClr val="444444"/>
                </a:solidFill>
              </a:rPr>
              <a:t>Total —                                  155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38F4B"/>
                </a:solidFill>
              </a:rPr>
              <a:t>AI LAB SERIES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2A4A"/>
                </a:solidFill>
              </a:rPr>
              <a:t>Grading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19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444444"/>
                </a:solidFill>
              </a:rPr>
              <a:t>Close to a Pass/Fail class</a:t>
            </a:r>
          </a:p>
          <a:p>
            <a:pPr/>
            <a:r>
              <a:rPr sz="2000">
                <a:solidFill>
                  <a:srgbClr val="444444"/>
                </a:solidFill>
              </a:rPr>
              <a:t>Complete, Incomplete, Fail (A, B- and F)</a:t>
            </a:r>
          </a:p>
          <a:p>
            <a:pPr/>
            <a:r>
              <a:rPr sz="2000">
                <a:solidFill>
                  <a:srgbClr val="444444"/>
                </a:solidFill>
              </a:rPr>
              <a:t/>
            </a:r>
          </a:p>
          <a:p>
            <a:pPr/>
            <a:r>
              <a:rPr sz="2000">
                <a:solidFill>
                  <a:srgbClr val="444444"/>
                </a:solidFill>
              </a:rPr>
              <a:t>155 - 150 points   4.0   Completed all or nearly all assignments and requirements on time</a:t>
            </a:r>
          </a:p>
          <a:p>
            <a:pPr/>
            <a:r>
              <a:rPr sz="2000">
                <a:solidFill>
                  <a:srgbClr val="444444"/>
                </a:solidFill>
              </a:rPr>
              <a:t>&lt; 150 - 124 points 2.5   Missing/rejected assignments, low participation</a:t>
            </a:r>
          </a:p>
          <a:p>
            <a:pPr/>
            <a:r>
              <a:rPr sz="2000">
                <a:solidFill>
                  <a:srgbClr val="444444"/>
                </a:solidFill>
              </a:rPr>
              <a:t>&lt; 124 - 0 points   0     Non-responsive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38F4B"/>
                </a:solidFill>
              </a:rPr>
              <a:t>AI LAB SERIES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2A4A"/>
                </a:solidFill>
              </a:rPr>
              <a:t>Grading Policy Cont.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19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444444"/>
                </a:solidFill>
              </a:rPr>
              <a:t>Assignment grading</a:t>
            </a:r>
          </a:p>
          <a:p>
            <a:pPr/>
            <a:r>
              <a:rPr sz="2000">
                <a:solidFill>
                  <a:srgbClr val="444444"/>
                </a:solidFill>
              </a:rPr>
              <a:t>Deadlines 11:59 PM Wednesday</a:t>
            </a:r>
          </a:p>
          <a:p>
            <a:pPr/>
            <a:r>
              <a:rPr sz="2000">
                <a:solidFill>
                  <a:srgbClr val="444444"/>
                </a:solidFill>
              </a:rPr>
              <a:t>Accept / Reject with comments</a:t>
            </a:r>
          </a:p>
          <a:p>
            <a:pPr/>
            <a:r>
              <a:rPr sz="2000">
                <a:solidFill>
                  <a:srgbClr val="444444"/>
                </a:solidFill>
              </a:rPr>
              <a:t>Grades released by following Tuesday</a:t>
            </a:r>
          </a:p>
          <a:p>
            <a:pPr/>
            <a:r>
              <a:rPr sz="2000">
                <a:solidFill>
                  <a:srgbClr val="444444"/>
                </a:solidFill>
              </a:rPr>
              <a:t>If rejected, 1 week to resubmit</a:t>
            </a:r>
          </a:p>
          <a:p>
            <a:pPr/>
            <a:r>
              <a:rPr sz="2000">
                <a:solidFill>
                  <a:srgbClr val="444444"/>
                </a:solidFill>
              </a:rPr>
              <a:t>* Graded individually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38F4B"/>
                </a:solidFill>
              </a:rPr>
              <a:t>AI LAB SERIES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2A4A"/>
                </a:solidFill>
              </a:rPr>
              <a:t>Typical Friday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19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444444"/>
                </a:solidFill>
              </a:rPr>
              <a:t>1:30-5:20 PM:</a:t>
            </a:r>
          </a:p>
          <a:p>
            <a:pPr/>
            <a:r>
              <a:rPr sz="2000">
                <a:solidFill>
                  <a:srgbClr val="444444"/>
                </a:solidFill>
              </a:rPr>
              <a:t>Announcements</a:t>
            </a:r>
          </a:p>
          <a:p>
            <a:pPr/>
            <a:r>
              <a:rPr sz="2000">
                <a:solidFill>
                  <a:srgbClr val="444444"/>
                </a:solidFill>
              </a:rPr>
              <a:t>Presentations</a:t>
            </a:r>
          </a:p>
          <a:p>
            <a:pPr/>
            <a:r>
              <a:rPr sz="2000">
                <a:solidFill>
                  <a:srgbClr val="444444"/>
                </a:solidFill>
              </a:rPr>
              <a:t>Lecture, prep for next week's assignment</a:t>
            </a:r>
          </a:p>
          <a:p>
            <a:pPr/>
            <a:r>
              <a:rPr sz="2000">
                <a:solidFill>
                  <a:srgbClr val="444444"/>
                </a:solidFill>
              </a:rPr>
              <a:t>Teams check-ins with instructor: per schedule</a:t>
            </a:r>
          </a:p>
          <a:p>
            <a:pPr/>
            <a:r>
              <a:rPr sz="2000">
                <a:solidFill>
                  <a:srgbClr val="444444"/>
                </a:solidFill>
              </a:rPr>
              <a:t>Lab</a:t>
            </a:r>
          </a:p>
          <a:p>
            <a:pPr/>
            <a:r>
              <a:rPr sz="2000">
                <a:solidFill>
                  <a:srgbClr val="444444"/>
                </a:solidFill>
              </a:rPr>
              <a:t/>
            </a:r>
          </a:p>
          <a:p>
            <a:pPr/>
            <a:r>
              <a:rPr sz="2000">
                <a:solidFill>
                  <a:srgbClr val="444444"/>
                </a:solidFill>
              </a:rPr>
              <a:t>Outside these times, you should plan time for research, development, 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38F4B"/>
                </a:solidFill>
              </a:rPr>
              <a:t>AI LAB SERIES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2A4A"/>
                </a:solidFill>
              </a:rPr>
              <a:t>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19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444444"/>
                </a:solidFill>
              </a:rPr>
              <a:t>Four students max (32 students → 8 teams of 4)</a:t>
            </a:r>
          </a:p>
          <a:p>
            <a:pPr/>
            <a:r>
              <a:rPr sz="2000">
                <a:solidFill>
                  <a:srgbClr val="444444"/>
                </a:solidFill>
              </a:rPr>
              <a:t>Each team will:</a:t>
            </a:r>
          </a:p>
          <a:p>
            <a:pPr/>
            <a:r>
              <a:rPr sz="2000">
                <a:solidFill>
                  <a:srgbClr val="444444"/>
                </a:solidFill>
              </a:rPr>
              <a:t>Pair with a partner team for the Week 1 RFI Lab (one team = GC, one = subcontractor)</a:t>
            </a:r>
          </a:p>
          <a:p>
            <a:pPr/>
            <a:r>
              <a:rPr sz="2000">
                <a:solidFill>
                  <a:srgbClr val="444444"/>
                </a:solidFill>
              </a:rPr>
              <a:t>Select a project lens: an industry-partner project or a public project dataset</a:t>
            </a:r>
          </a:p>
          <a:p>
            <a:pPr/>
            <a:r>
              <a:rPr sz="2000">
                <a:solidFill>
                  <a:srgbClr val="444444"/>
                </a:solidFill>
              </a:rPr>
              <a:t>Develop a thesis about where construction information flow breaks down</a:t>
            </a:r>
          </a:p>
          <a:p>
            <a:pPr/>
            <a:r>
              <a:rPr sz="2000">
                <a:solidFill>
                  <a:srgbClr val="444444"/>
                </a:solidFill>
              </a:rPr>
              <a:t>Teams will focus on their chosen lens and thesis for the entire quarter</a:t>
            </a:r>
          </a:p>
          <a:p>
            <a:pPr/>
            <a:r>
              <a:rPr sz="2000">
                <a:solidFill>
                  <a:srgbClr val="444444"/>
                </a:solidFill>
              </a:rPr>
              <a:t>Each team meets with instructor for check-ins; end of class each Friday</a:t>
            </a:r>
          </a:p>
          <a:p>
            <a:pPr/>
            <a:r>
              <a:rPr sz="2000">
                <a:solidFill>
                  <a:srgbClr val="444444"/>
                </a:solidFill>
              </a:rPr>
              <a:t>[TA] will coordinate the team check-in schedule; 15 mins each</a:t>
            </a:r>
          </a:p>
          <a:p>
            <a:pPr/>
            <a:r>
              <a:rPr sz="2000">
                <a:solidFill>
                  <a:srgbClr val="444444"/>
                </a:solidFill>
              </a:rPr>
              <a:t>Teams also encouraged to meet outside of class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38F4B"/>
                </a:solidFill>
              </a:rPr>
              <a:t>AI LAB SERIES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2A4A"/>
                </a:solidFill>
              </a:rPr>
              <a:t>What is the class project?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19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444444"/>
                </a:solidFill>
              </a:rPr>
              <a:t>Students will research how information — documents, subcontracts, communications, site data — flows through construction projects, and where it breaks down</a:t>
            </a:r>
          </a:p>
          <a:p>
            <a:pPr/>
            <a:r>
              <a:rPr sz="2000">
                <a:solidFill>
                  <a:srgbClr val="444444"/>
                </a:solidFill>
              </a:rPr>
              <a:t>Students will engage with industry practitioners (GCs, subs, design teams, owners) to inform their research findings</a:t>
            </a:r>
          </a:p>
          <a:p>
            <a:pPr/>
            <a:r>
              <a:rPr sz="2000">
                <a:solidFill>
                  <a:srgbClr val="444444"/>
                </a:solidFill>
              </a:rPr>
              <a:t>Students will access public project data and generate synthetic data where proprietary data is unavailable</a:t>
            </a:r>
          </a:p>
          <a:p>
            <a:pPr/>
            <a:r>
              <a:rPr sz="2000">
                <a:solidFill>
                  <a:srgbClr val="444444"/>
                </a:solidFill>
              </a:rPr>
              <a:t>Students will build LLM-based, agentic systems to run experiments that validate their thesis about construction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38F4B"/>
                </a:solidFill>
              </a:rPr>
              <a:t>AI LAB SERIES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2A4A"/>
                </a:solidFill>
              </a:rPr>
              <a:t>Thesis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19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444444"/>
                </a:solidFill>
              </a:rPr>
              <a:t>Develop a thesis about construction information flow</a:t>
            </a:r>
          </a:p>
          <a:p>
            <a:pPr/>
            <a:r>
              <a:rPr sz="2000">
                <a:solidFill>
                  <a:srgbClr val="444444"/>
                </a:solidFill>
              </a:rPr>
              <a:t>See Reading List for background information, material</a:t>
            </a:r>
          </a:p>
          <a:p>
            <a:pPr/>
            <a:r>
              <a:rPr sz="2000">
                <a:solidFill>
                  <a:srgbClr val="444444"/>
                </a:solidFill>
              </a:rPr>
              <a:t>Write a thesis statement to anchor the point of view…</a:t>
            </a:r>
          </a:p>
          <a:p>
            <a:pPr/>
            <a:r>
              <a:rPr sz="2000">
                <a:solidFill>
                  <a:srgbClr val="444444"/>
                </a:solidFill>
              </a:rPr>
              <a:t>And what needs to be validated</a:t>
            </a:r>
          </a:p>
          <a:p>
            <a:pPr/>
            <a:r>
              <a:rPr sz="2000">
                <a:solidFill>
                  <a:srgbClr val="444444"/>
                </a:solidFill>
              </a:rPr>
              <a:t>Validate thesis with LLM and agentic experiments</a:t>
            </a:r>
          </a:p>
          <a:p>
            <a:pPr/>
            <a:r>
              <a:rPr sz="2000">
                <a:solidFill>
                  <a:srgbClr val="444444"/>
                </a:solidFill>
              </a:rPr>
              <a:t>Informed by field observation, practitioner interviews, and real/synthetic project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38F4B"/>
                </a:solidFill>
              </a:rPr>
              <a:t>AI LAB SERIES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2A4A"/>
                </a:solidFill>
              </a:rPr>
              <a:t>Where information breaks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19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444444"/>
                </a:solidFill>
              </a:rPr>
              <a:t>Think about who holds which document…</a:t>
            </a:r>
          </a:p>
          <a:p>
            <a:pPr/>
            <a:r>
              <a:rPr sz="2000">
                <a:solidFill>
                  <a:srgbClr val="444444"/>
                </a:solidFill>
              </a:rPr>
              <a:t>And what a late or wrong answer costs</a:t>
            </a:r>
          </a:p>
          <a:p>
            <a:pPr/>
            <a:r>
              <a:rPr sz="2000">
                <a:solidFill>
                  <a:srgbClr val="444444"/>
                </a:solidFill>
              </a:rPr>
              <a:t>RFI example</a:t>
            </a:r>
          </a:p>
          <a:p>
            <a:pPr/>
            <a:r>
              <a:rPr sz="2000">
                <a:solidFill>
                  <a:srgbClr val="444444"/>
                </a:solidFill>
              </a:rPr>
              <a:t>A subcontractor hits a conflict between drawings and specs</a:t>
            </a:r>
          </a:p>
          <a:p>
            <a:pPr/>
            <a:r>
              <a:rPr sz="2000">
                <a:solidFill>
                  <a:srgbClr val="444444"/>
                </a:solidFill>
              </a:rPr>
              <a:t>Two dimensions at risk: schedule and contractual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38F4B"/>
                </a:solidFill>
              </a:rPr>
              <a:t>AI LAB SERIES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2A4A"/>
                </a:solidFill>
              </a:rPr>
              <a:t>Industry characteristics: project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19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444444"/>
                </a:solidFill>
              </a:rPr>
              <a:t>Preconstruction — estimates, bids, constructability review</a:t>
            </a:r>
          </a:p>
          <a:p>
            <a:pPr/>
            <a:r>
              <a:rPr sz="2000">
                <a:solidFill>
                  <a:srgbClr val="444444"/>
                </a:solidFill>
              </a:rPr>
              <a:t>Contracting — A201 general conditions, subcontracts, flow-down clauses</a:t>
            </a:r>
          </a:p>
          <a:p>
            <a:pPr/>
            <a:r>
              <a:rPr sz="2000">
                <a:solidFill>
                  <a:srgbClr val="444444"/>
                </a:solidFill>
              </a:rPr>
              <a:t>Execution — RFIs, submittals, change orders, daily reports, meeting minutes</a:t>
            </a:r>
          </a:p>
          <a:p>
            <a:pPr/>
            <a:r>
              <a:rPr sz="2000">
                <a:solidFill>
                  <a:srgbClr val="444444"/>
                </a:solidFill>
              </a:rPr>
              <a:t>Closeout — as-builts, O&amp;M data, COBie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38F4B"/>
                </a:solidFill>
              </a:rPr>
              <a:t>AI LAB SERIES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2A4A"/>
                </a:solidFill>
              </a:rPr>
              <a:t>Key information 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19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444444"/>
                </a:solidFill>
              </a:rPr>
              <a:t>RFIs (Requests for Information) — questions, ambiguity, latency, risk</a:t>
            </a:r>
          </a:p>
          <a:p>
            <a:pPr/>
            <a:r>
              <a:rPr sz="2000">
                <a:solidFill>
                  <a:srgbClr val="444444"/>
                </a:solidFill>
              </a:rPr>
              <a:t>Submittals and shop drawings — approvals, long-lead items</a:t>
            </a:r>
          </a:p>
          <a:p>
            <a:pPr/>
            <a:r>
              <a:rPr sz="2000">
                <a:solidFill>
                  <a:srgbClr val="444444"/>
                </a:solidFill>
              </a:rPr>
              <a:t>Change orders — cost/schedule impact, negotiation</a:t>
            </a:r>
          </a:p>
          <a:p>
            <a:pPr/>
            <a:r>
              <a:rPr sz="2000">
                <a:solidFill>
                  <a:srgbClr val="444444"/>
                </a:solidFill>
              </a:rPr>
              <a:t>Daily reports and field observations — where documents meet site reality</a:t>
            </a:r>
          </a:p>
          <a:p>
            <a:pPr/>
            <a:r>
              <a:rPr sz="2000">
                <a:solidFill>
                  <a:srgbClr val="444444"/>
                </a:solidFill>
              </a:rPr>
              <a:t>Inspection and permit records — compliance, public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38F4B"/>
                </a:solidFill>
              </a:rPr>
              <a:t>AI LAB SERIES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2A4A"/>
                </a:solidFill>
              </a:rPr>
              <a:t>Data access in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19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444444"/>
                </a:solidFill>
              </a:rPr>
              <a:t>Public data — permits, inspections, bidding records, OSHA logs (Seattle Services Portal, L&amp;I, OSHA)</a:t>
            </a:r>
          </a:p>
          <a:p>
            <a:pPr/>
            <a:r>
              <a:rPr sz="2000">
                <a:solidFill>
                  <a:srgbClr val="444444"/>
                </a:solidFill>
              </a:rPr>
              <a:t>Proprietary data — partner project data, Procore/PlanGrid exports, Dodge reports</a:t>
            </a:r>
          </a:p>
          <a:p>
            <a:pPr/>
            <a:r>
              <a:rPr sz="2000">
                <a:solidFill>
                  <a:srgbClr val="444444"/>
                </a:solidFill>
              </a:rPr>
              <a:t>NDAs and what partners can and cannot share</a:t>
            </a:r>
          </a:p>
          <a:p>
            <a:pPr/>
            <a:r>
              <a:rPr sz="2000">
                <a:solidFill>
                  <a:srgbClr val="444444"/>
                </a:solidFill>
              </a:rPr>
              <a:t>Synthetic data generation — when and how to justify it (documented, or it's a reject)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38F4B"/>
                </a:solidFill>
              </a:rPr>
              <a:t>AI LAB SERIES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2A4A"/>
                </a:solidFill>
              </a:rPr>
              <a:t>AI agents in construction coordination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19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444444"/>
                </a:solidFill>
              </a:rPr>
              <a:t>Where agents help: RFI triage, submittal tracking, reference resolution, compliance checks</a:t>
            </a:r>
          </a:p>
          <a:p>
            <a:pPr/>
            <a:r>
              <a:rPr sz="2000">
                <a:solidFill>
                  <a:srgbClr val="444444"/>
                </a:solidFill>
              </a:rPr>
              <a:t>Where agents over-claim: authority to respond, contractual commitments, safety-critical calls</a:t>
            </a:r>
          </a:p>
          <a:p>
            <a:pPr/>
            <a:r>
              <a:rPr sz="2000">
                <a:solidFill>
                  <a:srgbClr val="444444"/>
                </a:solidFill>
              </a:rPr>
              <a:t>Multi-party protocols: message formats, escalation, audit trails</a:t>
            </a:r>
          </a:p>
          <a:p>
            <a:pPr/>
            <a:r>
              <a:rPr sz="2000">
                <a:solidFill>
                  <a:srgbClr val="444444"/>
                </a:solidFill>
              </a:rPr>
              <a:t>Class discussion: what should an agent NEVER do on a construction project?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38F4B"/>
                </a:solidFill>
              </a:rPr>
              <a:t>AI LAB SERIES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2A4A"/>
                </a:solidFill>
              </a:rPr>
              <a:t>Next week's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19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444444"/>
                </a:solidFill>
              </a:rPr>
              <a:t>Finalize your team's thesis about construction information flow</a:t>
            </a:r>
          </a:p>
          <a:p>
            <a:pPr/>
            <a:r>
              <a:rPr sz="2000">
                <a:solidFill>
                  <a:srgbClr val="444444"/>
                </a:solidFill>
              </a:rPr>
              <a:t>Choose your project lens: partner project or public dataset</a:t>
            </a:r>
          </a:p>
          <a:p>
            <a:pPr/>
            <a:r>
              <a:rPr sz="2000">
                <a:solidFill>
                  <a:srgbClr val="444444"/>
                </a:solidFill>
              </a:rPr>
              <a:t>Design your coordination posture: parties, artifacts, four demo concepts</a:t>
            </a:r>
          </a:p>
          <a:p>
            <a:pPr/>
            <a:r>
              <a:rPr sz="2000">
                <a:solidFill>
                  <a:srgbClr val="444444"/>
                </a:solidFill>
              </a:rPr>
              <a:t>Start with a thesis statement</a:t>
            </a:r>
          </a:p>
          <a:p>
            <a:pPr/>
            <a:r>
              <a:rPr sz="2000">
                <a:solidFill>
                  <a:srgbClr val="444444"/>
                </a:solidFill>
              </a:rPr>
              <a:t>Present a placeholder web app representing thesis and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38F4B"/>
                </a:solidFill>
              </a:rPr>
              <a:t>AI LAB SERIES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2A4A"/>
                </a:solidFill>
              </a:rPr>
              <a:t>Today's Lab: RFI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19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444444"/>
                </a:solidFill>
              </a:rPr>
              <a:t>8 teams of 4 — paired as GC ↔ subcontractor</a:t>
            </a:r>
          </a:p>
          <a:p>
            <a:pPr/>
            <a:r>
              <a:rPr sz="2000">
                <a:solidFill>
                  <a:srgbClr val="444444"/>
                </a:solidFill>
              </a:rPr>
              <a:t>GC team: design a new UW Information School building (program brief) and publish a formal RFI</a:t>
            </a:r>
          </a:p>
          <a:p>
            <a:pPr/>
            <a:r>
              <a:rPr sz="2000">
                <a:solidFill>
                  <a:srgbClr val="444444"/>
                </a:solidFill>
              </a:rPr>
              <a:t>Subcontractor team: respond with a complete RFI response package by the deadline</a:t>
            </a:r>
          </a:p>
          <a:p>
            <a:pPr/>
            <a:r>
              <a:rPr sz="2000">
                <a:solidFill>
                  <a:srgbClr val="444444"/>
                </a:solidFill>
              </a:rPr>
              <a:t>One addendum allowed; log every communication</a:t>
            </a:r>
          </a:p>
          <a:p>
            <a:pPr/>
            <a:r>
              <a:rPr sz="2000">
                <a:solidFill>
                  <a:srgbClr val="444444"/>
                </a:solidFill>
              </a:rPr>
              <a:t>Debrief: where did information flow break down? What would an AI agent have changed?</a:t>
            </a:r>
          </a:p>
          <a:p>
            <a:pPr/>
            <a:r>
              <a:rPr sz="2000">
                <a:solidFill>
                  <a:srgbClr val="444444"/>
                </a:solidFill>
              </a:rPr>
              <a:t>See Miro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38F4B"/>
                </a:solidFill>
              </a:rPr>
              <a:t>AI LAB SERIES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2A4A"/>
                </a:solidFill>
              </a:rPr>
              <a:t>Teams check-in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19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444444"/>
                </a:solidFill>
              </a:rPr>
              <a:t>Who's doing what on each team, i.e. roles</a:t>
            </a:r>
          </a:p>
          <a:p>
            <a:pPr/>
            <a:r>
              <a:rPr sz="2000">
                <a:solidFill>
                  <a:srgbClr val="444444"/>
                </a:solidFill>
              </a:rPr>
              <a:t>Team norms, agreement</a:t>
            </a:r>
          </a:p>
          <a:p>
            <a:pPr/>
            <a:r>
              <a:rPr sz="2000">
                <a:solidFill>
                  <a:srgbClr val="444444"/>
                </a:solidFill>
              </a:rPr>
              <a:t>GC/sub pairing and RFI topic selection</a:t>
            </a:r>
          </a:p>
          <a:p>
            <a:pPr/>
            <a:r>
              <a:rPr sz="2000">
                <a:solidFill>
                  <a:srgbClr val="444444"/>
                </a:solidFill>
              </a:rPr>
              <a:t>Quick discussion: what's unique about construction information flow, from a coordination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38F4B"/>
                </a:solidFill>
              </a:rPr>
              <a:t>AI LAB SERIES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nk-head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3931920" cy="3931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03520" y="1554480"/>
            <a:ext cx="6217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B2A4A"/>
                </a:solidFill>
              </a:rPr>
              <a:t>Frank Martinez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377440"/>
            <a:ext cx="6217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B38F4B"/>
                </a:solidFill>
              </a:rPr>
              <a:t>Instructor, INFO 492 C — Construction Informatics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017520"/>
            <a:ext cx="6217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444444"/>
                </a:solidFill>
              </a:rPr>
              <a:t>•  Lecturer, UW Information School — AI LAB series</a:t>
            </a:r>
          </a:p>
          <a:p>
            <a:r>
              <a:rPr sz="1700">
                <a:solidFill>
                  <a:srgbClr val="444444"/>
                </a:solidFill>
              </a:rPr>
              <a:t>•  Founder, Last Myle Engineering — applied AI and data systems</a:t>
            </a:r>
          </a:p>
          <a:p>
            <a:r>
              <a:rPr sz="1700">
                <a:solidFill>
                  <a:srgbClr val="444444"/>
                </a:solidFill>
              </a:rPr>
              <a:t>•  Co-founder, ¡Adiós COVID! (2020–24) — public-health informatics with WA DOH / VACCS Center</a:t>
            </a:r>
          </a:p>
          <a:p>
            <a:r>
              <a:rPr sz="1700">
                <a:solidFill>
                  <a:srgbClr val="444444"/>
                </a:solidFill>
              </a:rPr>
              <a:t>•  Builds with AI agents, LLMs, and agentic systems across regulated industries</a:t>
            </a:r>
          </a:p>
          <a:p>
            <a:r>
              <a:rPr sz="1700">
                <a:solidFill>
                  <a:srgbClr val="444444"/>
                </a:solidFill>
              </a:rPr>
              <a:t>•  Focus: how information flows (and breaks) in high-stakes, multi-party environments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38F4B"/>
                </a:solidFill>
              </a:rPr>
              <a:t>AI LAB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